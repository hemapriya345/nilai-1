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d09b2d9-fe26-507c-82b0-8e52175a9d4c/scratchpad/build/img/hs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09728"/>
            <a:ext cx="1691640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75E"/>
                </a:solidFill>
              </a:rPr>
              <a:t>@HSC submission- Template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C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d09b2d9-fe26-507c-82b0-8e52175a9d4c/scratchpad/build/img/hs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109728"/>
            <a:ext cx="1691640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75E"/>
                </a:solidFill>
              </a:rPr>
              <a:t>@HSC submission- Template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mc.ncbi.nlm.nih.gov/articles/PMC8269764/" TargetMode="External"/><Relationship Id="rId2" Type="http://schemas.openxmlformats.org/officeDocument/2006/relationships/hyperlink" Target="https://pubmed.ncbi.nlm.nih.gov/27288815/" TargetMode="External"/><Relationship Id="rId3" Type="http://schemas.openxmlformats.org/officeDocument/2006/relationships/hyperlink" Target="https://pubmed.ncbi.nlm.nih.gov/33981478/" TargetMode="External"/><Relationship Id="rId4" Type="http://schemas.openxmlformats.org/officeDocument/2006/relationships/hyperlink" Target="https://pubmed.ncbi.nlm.nih.gov/31735996/" TargetMode="External"/><Relationship Id="rId5" Type="http://schemas.openxmlformats.org/officeDocument/2006/relationships/hyperlink" Target="https://pubmed.ncbi.nlm.nih.gov/25923582/" TargetMode="External"/><Relationship Id="rId6" Type="http://schemas.openxmlformats.org/officeDocument/2006/relationships/hyperlink" Target="https://doi.org/10.1109/10.686791" TargetMode="External"/><Relationship Id="rId7" Type="http://schemas.openxmlformats.org/officeDocument/2006/relationships/hyperlink" Target="https://mybharat.gov.in/pages/hack_social" TargetMode="External"/><Relationship Id="rId8" Type="http://schemas.openxmlformats.org/officeDocument/2006/relationships/hyperlink" Target="https://www.espressif.com/en/products/socs/esp32-c6" TargetMode="Externa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0E7C7B"/>
                </a:solidFill>
              </a:rPr>
              <a:t>NILAI</a:t>
            </a:r>
            <a:pPr indent="0" marL="0">
              <a:buNone/>
            </a:pPr>
            <a:r>
              <a:rPr lang="en-US" sz="1600" i="1" dirty="0">
                <a:solidFill>
                  <a:srgbClr val="556273"/>
                </a:solidFill>
              </a:rPr>
              <a:t>   நிலை · steadiness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A"/>
                </a:solidFill>
              </a:rPr>
              <a:t>Senses tremor, separates it from intended movement, suppresses it on demand – and trains steadiness 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91440" cy="9144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Problem Statement / Concept Title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</a:rPr>
              <a:t>NILAI – a non-invasive AI wearable for real-time hand-tremor detection, on-demand suppression and personalised steadiness training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593592"/>
            <a:ext cx="91440" cy="9144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02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Theme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76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</a:rPr>
              <a:t>Assistive Technology &amp; Accessibility  (also: Healthcare · Elderly Care)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325112"/>
            <a:ext cx="91440" cy="9144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Team Name (Registered on portal)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507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</a:rPr>
              <a:t>Nilai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965192"/>
            <a:ext cx="91440" cy="9144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Team ID (Registered on portal)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480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</a:rPr>
              <a:t>HSC|TN|00325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5605272"/>
            <a:ext cx="91440" cy="9144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513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</a:rPr>
              <a:t>State/UT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788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</a:rPr>
              <a:t>Tamil Nadu  ·  Sri Sairam Engineering College, Chennai</a:t>
            </a:r>
            <a:endParaRPr lang="en-US" sz="1400" dirty="0"/>
          </a:p>
        </p:txBody>
      </p:sp>
      <p:pic>
        <p:nvPicPr>
          <p:cNvPr id="20" name="Hero" descr="/tmp/claude-0/-home-claude/3d09b2d9-fe26-507c-82b0-8e52175a9d4c/scratchpad/build/img/imag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143000"/>
            <a:ext cx="5120640" cy="4069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29400" y="53949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940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Real-time tremor detection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366760" y="53949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On-demand suppression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104120" y="53949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DEFE3"/>
          </a:solidFill>
          <a:ln w="12700">
            <a:solidFill>
              <a:srgbClr val="FDEF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104120" y="5394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5A12"/>
                </a:solidFill>
              </a:rPr>
              <a:t>No surgery · No drugs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– Proposed Solution</a:t>
            </a:r>
            <a:endParaRPr lang="en-US" sz="2800" dirty="0"/>
          </a:p>
        </p:txBody>
      </p:sp>
      <p:sp>
        <p:nvSpPr>
          <p:cNvPr id="5" name="ProblemCard"/>
          <p:cNvSpPr/>
          <p:nvPr/>
        </p:nvSpPr>
        <p:spPr>
          <a:xfrm>
            <a:off x="457200" y="1097280"/>
            <a:ext cx="3703320" cy="5212080"/>
          </a:xfrm>
          <a:prstGeom prst="roundRect">
            <a:avLst>
              <a:gd name="adj" fmla="val 296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CORE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361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</a:rPr>
              <a:t>Tremor takes away the steady hand – and the activity that helps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~100 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people worldwide live with essential tremor (1.3%) [1]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900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5.8 %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990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of adults over 65 are affected – it rises with age [1]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4845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</a:rPr>
              <a:t>~4.6 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648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estimated in India; eating, writing, holding become hard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43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722"/>
                </a:solidFill>
              </a:rPr>
              <a:t>The vicious loop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Tremor → stop exercise → weaker control → worse tremor [2][3]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2303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497D"/>
                </a:solidFill>
              </a:rPr>
              <a:t>Today's options: </a:t>
            </a:r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pills that help only some, or brain surgery (DBS) costing lakhs. Severity is judged once in a while with a pen-and-spiral test – nothing at home.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1097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7B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NILAI </a:t>
            </a:r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</a:rPr>
              <a:t>is a washable forearm sleeve with a snap-in sensor pod. It reads muscle (EMG) and motion signals, separates tremor from intended movement with on-device AI, cancels it on demand with a gentle counter-pulse, and coaches steadiness through an app.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240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DETAILED EXPLANATION – HOW IT WORKS</a:t>
            </a:r>
            <a:endParaRPr lang="en-US" sz="1100" dirty="0"/>
          </a:p>
        </p:txBody>
      </p:sp>
      <p:sp>
        <p:nvSpPr>
          <p:cNvPr id="20" name="Step1"/>
          <p:cNvSpPr/>
          <p:nvPr/>
        </p:nvSpPr>
        <p:spPr>
          <a:xfrm>
            <a:off x="4434840" y="2542032"/>
            <a:ext cx="1691640" cy="1481328"/>
          </a:xfrm>
          <a:prstGeom prst="roundRect">
            <a:avLst>
              <a:gd name="adj" fmla="val 7407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67004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2788920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093208" y="26700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Sense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32004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3-ch dry EMG + 6-axis IMU + heart-rate on the forearm</a:t>
            </a:r>
            <a:endParaRPr lang="en-US" sz="1150" dirty="0"/>
          </a:p>
        </p:txBody>
      </p:sp>
      <p:sp>
        <p:nvSpPr>
          <p:cNvPr id="25" name="Step2"/>
          <p:cNvSpPr/>
          <p:nvPr/>
        </p:nvSpPr>
        <p:spPr>
          <a:xfrm>
            <a:off x="6309360" y="2542032"/>
            <a:ext cx="1691640" cy="1481328"/>
          </a:xfrm>
          <a:prstGeom prst="roundRect">
            <a:avLst>
              <a:gd name="adj" fmla="val 7407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267004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788920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967728" y="26700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Distinguish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32004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On-device AI isolates the 4–12 Hz tremor from voluntary motion</a:t>
            </a:r>
            <a:endParaRPr lang="en-US" sz="1150" dirty="0"/>
          </a:p>
        </p:txBody>
      </p:sp>
      <p:sp>
        <p:nvSpPr>
          <p:cNvPr id="30" name="Step3"/>
          <p:cNvSpPr/>
          <p:nvPr/>
        </p:nvSpPr>
        <p:spPr>
          <a:xfrm>
            <a:off x="8183880" y="2542032"/>
            <a:ext cx="1691640" cy="1481328"/>
          </a:xfrm>
          <a:prstGeom prst="roundRect">
            <a:avLst>
              <a:gd name="adj" fmla="val 7407"/>
            </a:avLst>
          </a:prstGeom>
          <a:solidFill>
            <a:srgbClr val="FDEFE3"/>
          </a:solidFill>
          <a:ln w="12700">
            <a:solidFill>
              <a:srgbClr val="FDEFE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321040" y="2670048"/>
            <a:ext cx="457200" cy="4572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788920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842248" y="26700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5A12"/>
                </a:solidFill>
              </a:rPr>
              <a:t>Suppress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8321040" y="32004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Timed counter-pulse (EMS) damps the tremor – only when the user asks</a:t>
            </a:r>
            <a:endParaRPr lang="en-US" sz="1150" dirty="0"/>
          </a:p>
        </p:txBody>
      </p:sp>
      <p:sp>
        <p:nvSpPr>
          <p:cNvPr id="35" name="Step4"/>
          <p:cNvSpPr/>
          <p:nvPr/>
        </p:nvSpPr>
        <p:spPr>
          <a:xfrm>
            <a:off x="10058400" y="2542032"/>
            <a:ext cx="1691640" cy="1481328"/>
          </a:xfrm>
          <a:prstGeom prst="roundRect">
            <a:avLst>
              <a:gd name="adj" fmla="val 7407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195560" y="267004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788920"/>
            <a:ext cx="219456" cy="219456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716768" y="26700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Train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195560" y="32004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Personalised exercises + daily tremor score for long-term control</a:t>
            </a:r>
            <a:endParaRPr lang="en-US" sz="1150" dirty="0"/>
          </a:p>
        </p:txBody>
      </p:sp>
      <p:sp>
        <p:nvSpPr>
          <p:cNvPr id="40" name="Addresses"/>
          <p:cNvSpPr/>
          <p:nvPr/>
        </p:nvSpPr>
        <p:spPr>
          <a:xfrm>
            <a:off x="4434840" y="4206240"/>
            <a:ext cx="3543300" cy="2103120"/>
          </a:xfrm>
          <a:prstGeom prst="roundRect">
            <a:avLst>
              <a:gd name="adj" fmla="val 521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617720" y="4315968"/>
            <a:ext cx="3268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497D"/>
                </a:solidFill>
              </a:rPr>
              <a:t>HOW IT ADDRESSES THE PROBLEM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4617720" y="4617720"/>
            <a:ext cx="3223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Steady hands for eating, writing, dressing – on demand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Makes exercise possible again → breaks the loop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Daily objective tremor score instead of a rare spiral test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Caregivers &amp; doctors track progress remotely</a:t>
            </a:r>
            <a:endParaRPr lang="en-US" sz="1250" dirty="0"/>
          </a:p>
        </p:txBody>
      </p:sp>
      <p:sp>
        <p:nvSpPr>
          <p:cNvPr id="43" name="Innovation"/>
          <p:cNvSpPr/>
          <p:nvPr/>
        </p:nvSpPr>
        <p:spPr>
          <a:xfrm>
            <a:off x="8206740" y="4206240"/>
            <a:ext cx="3543300" cy="2103120"/>
          </a:xfrm>
          <a:prstGeom prst="roundRect">
            <a:avLst>
              <a:gd name="adj" fmla="val 521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389620" y="4315968"/>
            <a:ext cx="3268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497D"/>
                </a:solidFill>
              </a:rPr>
              <a:t>INNOVATION &amp; UNIQUENESS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389620" y="4617720"/>
            <a:ext cx="32232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Reads the cause (muscle EMG), not just the visible shake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Tremor-vs-intent AI cross-checks EMG with motion – ignores vehicle/tool vibration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One closed loop: detect → suppress → train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</a:rPr>
              <a:t>Non-invasive, affordable, built in India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TECHNOLOGIES TO BE 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99616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80" y="1599468"/>
            <a:ext cx="184343" cy="184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97D"/>
                </a:solidFill>
              </a:rPr>
              <a:t>Hardware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65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ESP32-C6 (BLE + Wi-Fi 6) · MPU6050 6-axis IMU · 3-ch dry EMG · MAX30102 heart-rate · biphasic EMS driver · Li-Po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95728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505456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2605308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97D"/>
                </a:solidFill>
              </a:rPr>
              <a:t>AI &amp; signal processing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28712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Python · NumPy/SciPy (band-pass, Welch PSD) · scikit-learn classifier · WFLC adaptive filter · MediaPipe/OpenCV · C++ firmware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401568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" y="3511296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" y="3611148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1560" y="3493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97D"/>
                </a:solidFill>
              </a:rPr>
              <a:t>App &amp; backend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94360" y="3877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React Native app · Flask live dashboard · FastAPI + PostgreSQL · BLE streaming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256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" y="43891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Github link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" y="46634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87722"/>
                </a:solidFill>
              </a:rPr>
              <a:t>github.com/&lt;your-repo&gt;  ← add link</a:t>
            </a:r>
            <a:endParaRPr lang="en-US" sz="10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7433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41248" y="49377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Demo video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841248" y="521208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87722"/>
                </a:solidFill>
              </a:rPr>
              <a:t>&lt;YouTube / Drive link&gt;  ← add link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52297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1248" y="548640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Extent of usage of AI tools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841248" y="5760720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Gen-AI assistants used only for code help, literature search &amp; slide drafting. Signal pipeline, classifier and hardware designed, trained &amp; tested by the team.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4663440" y="1097280"/>
            <a:ext cx="7068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METHODOLOGY &amp; PROCESS – DATA FLOW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63440" y="1389888"/>
            <a:ext cx="1208837" cy="1078992"/>
          </a:xfrm>
          <a:prstGeom prst="roundRect">
            <a:avLst>
              <a:gd name="adj" fmla="val 8475"/>
            </a:avLst>
          </a:prstGeom>
          <a:solidFill>
            <a:srgbClr val="E5F3F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736592" y="1444752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Acquire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4736592" y="1773936"/>
            <a:ext cx="1062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EMG + IMU + PPG on the forearm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 rot="5400000">
            <a:off x="5936285" y="1828800"/>
            <a:ext cx="146304" cy="201168"/>
          </a:xfrm>
          <a:prstGeom prst="triangl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128309" y="1389888"/>
            <a:ext cx="1208837" cy="1078992"/>
          </a:xfrm>
          <a:prstGeom prst="roundRect">
            <a:avLst>
              <a:gd name="adj" fmla="val 8475"/>
            </a:avLst>
          </a:prstGeom>
          <a:solidFill>
            <a:srgbClr val="E5F3F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201461" y="1444752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Pre-process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6201461" y="1773936"/>
            <a:ext cx="1062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Filter 3.5–12 Hz, PSD band-power, RMS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 rot="5400000">
            <a:off x="7401154" y="1828800"/>
            <a:ext cx="146304" cy="201168"/>
          </a:xfrm>
          <a:prstGeom prst="triangl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593178" y="1389888"/>
            <a:ext cx="1208837" cy="1078992"/>
          </a:xfrm>
          <a:prstGeom prst="roundRect">
            <a:avLst>
              <a:gd name="adj" fmla="val 847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666330" y="1444752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Classify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7666330" y="1773936"/>
            <a:ext cx="1062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Tremor vs voluntary – EMG–gyro coherence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 rot="5400000">
            <a:off x="8866022" y="1828800"/>
            <a:ext cx="146304" cy="201168"/>
          </a:xfrm>
          <a:prstGeom prst="triangl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058046" y="1389888"/>
            <a:ext cx="1208837" cy="1078992"/>
          </a:xfrm>
          <a:prstGeom prst="roundRect">
            <a:avLst>
              <a:gd name="adj" fmla="val 8475"/>
            </a:avLst>
          </a:prstGeom>
          <a:solidFill>
            <a:srgbClr val="E5F3F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9131198" y="1444752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Act</a:t>
            </a:r>
            <a:endParaRPr lang="en-US" sz="1250" dirty="0"/>
          </a:p>
        </p:txBody>
      </p:sp>
      <p:sp>
        <p:nvSpPr>
          <p:cNvPr id="45" name="Text 37"/>
          <p:cNvSpPr txBox="1"/>
          <p:nvPr/>
        </p:nvSpPr>
        <p:spPr>
          <a:xfrm>
            <a:off x="9131198" y="1773936"/>
            <a:ext cx="1062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EMS anti-phase pulse, user-triggered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 rot="5400000">
            <a:off x="10330891" y="1828800"/>
            <a:ext cx="146304" cy="201168"/>
          </a:xfrm>
          <a:prstGeom prst="triangl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0522915" y="1389888"/>
            <a:ext cx="1208837" cy="1078992"/>
          </a:xfrm>
          <a:prstGeom prst="roundRect">
            <a:avLst>
              <a:gd name="adj" fmla="val 8475"/>
            </a:avLst>
          </a:prstGeom>
          <a:solidFill>
            <a:srgbClr val="E5F3F2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0596067" y="1444752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Learn</a:t>
            </a:r>
            <a:endParaRPr lang="en-US" sz="1250" dirty="0"/>
          </a:p>
        </p:txBody>
      </p:sp>
      <p:sp>
        <p:nvSpPr>
          <p:cNvPr id="49" name="Text 41"/>
          <p:cNvSpPr txBox="1"/>
          <p:nvPr/>
        </p:nvSpPr>
        <p:spPr>
          <a:xfrm>
            <a:off x="10596067" y="1773936"/>
            <a:ext cx="1062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App: tremor score + training plan</a:t>
            </a:r>
            <a:endParaRPr lang="en-US" sz="950" dirty="0"/>
          </a:p>
        </p:txBody>
      </p:sp>
      <p:sp>
        <p:nvSpPr>
          <p:cNvPr id="50" name="Text 42"/>
          <p:cNvSpPr txBox="1"/>
          <p:nvPr/>
        </p:nvSpPr>
        <p:spPr>
          <a:xfrm>
            <a:off x="4663440" y="2633472"/>
            <a:ext cx="7068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WORKING PROTOTYPE</a:t>
            </a:r>
            <a:endParaRPr lang="en-US" sz="1100" dirty="0"/>
          </a:p>
        </p:txBody>
      </p:sp>
      <p:pic>
        <p:nvPicPr>
          <p:cNvPr id="51" name="Image 6" descr="/tmp/claude-0/-home-claude/3d09b2d9-fe26-507c-82b0-8e52175a9d4c/scratchpad/build/img/image2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907792"/>
            <a:ext cx="3128810" cy="1298448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663440" y="4233672"/>
            <a:ext cx="3128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273"/>
                </a:solidFill>
              </a:rPr>
              <a:t>Sensor pod: ESP32-C6, IMU, EMG, Li-Po</a:t>
            </a:r>
            <a:endParaRPr lang="en-US" sz="950" dirty="0"/>
          </a:p>
        </p:txBody>
      </p:sp>
      <p:pic>
        <p:nvPicPr>
          <p:cNvPr id="53" name="Image 7" descr="/tmp/claude-0/-home-claude/3d09b2d9-fe26-507c-82b0-8e52175a9d4c/scratchpad/build/img/image2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554" y="2907792"/>
            <a:ext cx="1741377" cy="1298448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907554" y="4233672"/>
            <a:ext cx="17413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273"/>
                </a:solidFill>
              </a:rPr>
              <a:t>Live EMG waveform</a:t>
            </a:r>
            <a:endParaRPr lang="en-US" sz="950" dirty="0"/>
          </a:p>
        </p:txBody>
      </p:sp>
      <p:pic>
        <p:nvPicPr>
          <p:cNvPr id="55" name="Image 8" descr="/tmp/claude-0/-home-claude/3d09b2d9-fe26-507c-82b0-8e52175a9d4c/scratchpad/build/img/image27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4235" y="2907792"/>
            <a:ext cx="1967517" cy="1298448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764235" y="4233672"/>
            <a:ext cx="196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273"/>
                </a:solidFill>
              </a:rPr>
              <a:t>Tremor-analysis dashboard</a:t>
            </a:r>
            <a:endParaRPr lang="en-US" sz="950" dirty="0"/>
          </a:p>
        </p:txBody>
      </p:sp>
      <p:sp>
        <p:nvSpPr>
          <p:cNvPr id="57" name="Text 46"/>
          <p:cNvSpPr txBox="1"/>
          <p:nvPr/>
        </p:nvSpPr>
        <p:spPr>
          <a:xfrm>
            <a:off x="4663440" y="4572000"/>
            <a:ext cx="7068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BUILD PROGRESS</a:t>
            </a:r>
            <a:endParaRPr lang="en-US" sz="1100" dirty="0"/>
          </a:p>
        </p:txBody>
      </p:sp>
      <p:sp>
        <p:nvSpPr>
          <p:cNvPr id="58" name="Shape 47"/>
          <p:cNvSpPr/>
          <p:nvPr/>
        </p:nvSpPr>
        <p:spPr>
          <a:xfrm>
            <a:off x="4663440" y="4846320"/>
            <a:ext cx="1629918" cy="1417320"/>
          </a:xfrm>
          <a:prstGeom prst="roundRect">
            <a:avLst>
              <a:gd name="adj" fmla="val 774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4773168" y="4956048"/>
            <a:ext cx="1410462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4773168" y="4956048"/>
            <a:ext cx="14104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 · DONE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4773168" y="5349240"/>
            <a:ext cx="14104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Depth-camera + gyro tremor classifier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6476238" y="4846320"/>
            <a:ext cx="1629918" cy="1417320"/>
          </a:xfrm>
          <a:prstGeom prst="roundRect">
            <a:avLst>
              <a:gd name="adj" fmla="val 774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585966" y="4956048"/>
            <a:ext cx="1410462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6585966" y="4956048"/>
            <a:ext cx="14104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 · DONE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585966" y="5349240"/>
            <a:ext cx="14104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Signal-analysis dashboard (tremor vs intent)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8289036" y="4846320"/>
            <a:ext cx="1629918" cy="1417320"/>
          </a:xfrm>
          <a:prstGeom prst="roundRect">
            <a:avLst>
              <a:gd name="adj" fmla="val 774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8398764" y="4956048"/>
            <a:ext cx="1410462" cy="310896"/>
          </a:xfrm>
          <a:prstGeom prst="roundRect">
            <a:avLst>
              <a:gd name="adj" fmla="val 23529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8398764" y="4956048"/>
            <a:ext cx="14104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 · NOW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8398764" y="5349240"/>
            <a:ext cx="14104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Forearm EMG band with live waveform</a:t>
            </a:r>
            <a:endParaRPr lang="en-US" sz="1100" dirty="0"/>
          </a:p>
        </p:txBody>
      </p:sp>
      <p:sp>
        <p:nvSpPr>
          <p:cNvPr id="70" name="Shape 59"/>
          <p:cNvSpPr/>
          <p:nvPr/>
        </p:nvSpPr>
        <p:spPr>
          <a:xfrm>
            <a:off x="10101834" y="4846320"/>
            <a:ext cx="1629918" cy="1417320"/>
          </a:xfrm>
          <a:prstGeom prst="roundRect">
            <a:avLst>
              <a:gd name="adj" fmla="val 774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10211562" y="4956048"/>
            <a:ext cx="1410462" cy="310896"/>
          </a:xfrm>
          <a:prstGeom prst="roundRect">
            <a:avLst>
              <a:gd name="adj" fmla="val 23529"/>
            </a:avLst>
          </a:prstGeom>
          <a:solidFill>
            <a:srgbClr val="556273"/>
          </a:solidFill>
          <a:ln w="12700">
            <a:solidFill>
              <a:srgbClr val="556273"/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10211562" y="4956048"/>
            <a:ext cx="14104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 · NEXT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10211562" y="5349240"/>
            <a:ext cx="14104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EMS suppression in the wearable pod + app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47188" cy="1188720"/>
          </a:xfrm>
          <a:prstGeom prst="roundRect">
            <a:avLst>
              <a:gd name="adj" fmla="val 9231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22814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</a:rPr>
              <a:t>~100 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people worldwide with essential tremor [1]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2988" y="1097280"/>
            <a:ext cx="2647188" cy="1188720"/>
          </a:xfrm>
          <a:prstGeom prst="roundRect">
            <a:avLst>
              <a:gd name="adj" fmla="val 9231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5868" y="1170432"/>
            <a:ext cx="22814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</a:rPr>
              <a:t>~4.6 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15868" y="1764792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estimated in India – most never see a specialist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1097280"/>
            <a:ext cx="2647188" cy="1188720"/>
          </a:xfrm>
          <a:prstGeom prst="roundRect">
            <a:avLst>
              <a:gd name="adj" fmla="val 9231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170432"/>
            <a:ext cx="22814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</a:rPr>
              <a:t>1 in 17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1764792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adults over 65 affected – India is ageing fast 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84564" y="1097280"/>
            <a:ext cx="2647188" cy="1188720"/>
          </a:xfrm>
          <a:prstGeom prst="roundRect">
            <a:avLst>
              <a:gd name="adj" fmla="val 9231"/>
            </a:avLst>
          </a:prstGeom>
          <a:solidFill>
            <a:srgbClr val="FDEFE3"/>
          </a:solidFill>
          <a:ln w="12700">
            <a:solidFill>
              <a:srgbClr val="FDE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7444" y="1170432"/>
            <a:ext cx="22814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5A12"/>
                </a:solidFill>
              </a:rPr>
              <a:t>Lakhs → ₹40K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267444" y="1764792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DBS brain surgery vs. a NILAI device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605784" cy="3154680"/>
          </a:xfrm>
          <a:prstGeom prst="roundRect">
            <a:avLst>
              <a:gd name="adj" fmla="val 347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770632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07008" y="265176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97D"/>
                </a:solidFill>
              </a:rPr>
              <a:t>Potential impact on the target audience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246120"/>
            <a:ext cx="3240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</a:rPr>
              <a:t>People with essential tremor &amp; Parkinson's, and the elderly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</a:rPr>
              <a:t>Eat, write, dress and work independently again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</a:rPr>
              <a:t>Return to exercise – which itself reduces tremor [3][4][5]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A"/>
                </a:solidFill>
              </a:rPr>
              <a:t>Daily progress score builds confidence &amp; adherence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91584" y="2514600"/>
            <a:ext cx="3605784" cy="3154680"/>
          </a:xfrm>
          <a:prstGeom prst="roundRect">
            <a:avLst>
              <a:gd name="adj" fmla="val 347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74464" y="2651760"/>
            <a:ext cx="457200" cy="457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336" y="277063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041392" y="265176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97D"/>
                </a:solidFill>
              </a:rPr>
              <a:t>Benefits of the solution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4474464" y="3246120"/>
            <a:ext cx="3240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A"/>
                </a:solidFill>
              </a:rPr>
              <a:t>Social: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E2A3A"/>
                </a:solidFill>
              </a:rPr>
              <a:t>dignity, independence, inclusion of elders; less caregiver burden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A"/>
                </a:solidFill>
              </a:rPr>
              <a:t>Economic: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E2A3A"/>
                </a:solidFill>
              </a:rPr>
              <a:t>a fraction of surgery cost; shared kits for rehab centres &amp; PHCs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A"/>
                </a:solidFill>
              </a:rPr>
              <a:t>Health system: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E2A3A"/>
                </a:solidFill>
              </a:rPr>
              <a:t>remote monitoring cuts repeat clinic visits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A3A"/>
                </a:solidFill>
              </a:rPr>
              <a:t>Jobs: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E2A3A"/>
                </a:solidFill>
              </a:rPr>
              <a:t>local assembly of sleeves &amp; electrode kits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125968" y="2514600"/>
            <a:ext cx="3605784" cy="3154680"/>
          </a:xfrm>
          <a:prstGeom prst="roundRect">
            <a:avLst>
              <a:gd name="adj" fmla="val 347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08848" y="2651760"/>
            <a:ext cx="457200" cy="457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0" y="277063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875776" y="265176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97D"/>
                </a:solidFill>
              </a:rPr>
              <a:t>Stakeholders</a:t>
            </a:r>
            <a:endParaRPr lang="en-US" sz="13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568" y="329184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747760" y="3246120"/>
            <a:ext cx="282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Patients, families &amp; caregivers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568" y="374904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747760" y="3703320"/>
            <a:ext cx="282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Neurologists &amp; physiotherapists</a:t>
            </a:r>
            <a:endParaRPr lang="en-US" sz="12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568" y="420624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47760" y="4160520"/>
            <a:ext cx="282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Rehab centres, PHCs &amp; elder-care homes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4568" y="4663440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747760" y="4617720"/>
            <a:ext cx="282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Govt. health schemes &amp; NGOs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568" y="5120640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747760" y="5074920"/>
            <a:ext cx="282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CSR funders – kits for rural centres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457200" y="5833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Aligned with UN SDGs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2651760" y="5870448"/>
            <a:ext cx="2426818" cy="347472"/>
          </a:xfrm>
          <a:prstGeom prst="roundRect">
            <a:avLst>
              <a:gd name="adj" fmla="val 21053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2651760" y="5870448"/>
            <a:ext cx="2426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SDG 3 · Good health &amp; well-being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215738" y="5870448"/>
            <a:ext cx="1570939" cy="347472"/>
          </a:xfrm>
          <a:prstGeom prst="roundRect">
            <a:avLst>
              <a:gd name="adj" fmla="val 21053"/>
            </a:avLst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215738" y="5870448"/>
            <a:ext cx="15709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SDG 8 · Decent work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6923837" y="5870448"/>
            <a:ext cx="1505102" cy="347472"/>
          </a:xfrm>
          <a:prstGeom prst="roundRect">
            <a:avLst>
              <a:gd name="adj" fmla="val 21053"/>
            </a:avLst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923837" y="5870448"/>
            <a:ext cx="15051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SDG 9 · Innovation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8566099" y="5870448"/>
            <a:ext cx="2229307" cy="347472"/>
          </a:xfrm>
          <a:prstGeom prst="roundRect">
            <a:avLst>
              <a:gd name="adj" fmla="val 21053"/>
            </a:avLst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8566099" y="5870448"/>
            <a:ext cx="22293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SDG 10 · Reduced inequalities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Risk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ANALYSIS OF THE FEASIBILITY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77" y="1668597"/>
            <a:ext cx="210678" cy="2106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1499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Technical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18196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Off-the-shelf parts; classifier, dashboard and EMG band already working (3 of 4 stages).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15184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779776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77" y="2893893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70432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Economic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70432" y="30449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Target ₹40K device + annual service &amp; app subscription; CSR funds rural kits.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4005072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" y="4119189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70432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Operational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70432" y="4270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Pilot with Chennai rehab &amp; physiotherapy centres; app-based remote follow-up.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5065776"/>
            <a:ext cx="4069080" cy="1115568"/>
          </a:xfrm>
          <a:prstGeom prst="roundRect">
            <a:avLst>
              <a:gd name="adj" fmla="val 9836"/>
            </a:avLst>
          </a:prstGeom>
          <a:solidFill>
            <a:srgbClr val="E5F3F2"/>
          </a:solidFill>
          <a:ln w="12700">
            <a:solidFill>
              <a:srgbClr val="E5F3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23036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77" y="5344485"/>
            <a:ext cx="210678" cy="21067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70432" y="5175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Validated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70432" y="54955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Concept recognised as a Samsung Solve for Tomorrow 2026 national finalist.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754880" y="1097280"/>
            <a:ext cx="6976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POTENTIAL CHALLENGES &amp; RISKS  →  STRATEGIES FOR OVERCOMING THEM</a:t>
            </a:r>
            <a:endParaRPr lang="en-US" sz="1100" dirty="0"/>
          </a:p>
        </p:txBody>
      </p:sp>
      <p:graphicFrame>
        <p:nvGraphicFramePr>
          <p:cNvPr id="6" name="Ris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89888"/>
          <a:ext cx="69768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22960"/>
                <a:gridCol w="3639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/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to overcome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triggers from vehicle / tool vibration at tremor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only when EMG (muscle origin) and gyro agree – coherence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 safety &amp; user comfort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Current-limited driver, clinician-set limits, user-triggered only, physical stop button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dry-electrode EMG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89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sleeve, reference electrode, signal-quality gate before any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Medical-device approval (CDSCO)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89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as monitoring &amp; training aid; gather pilot data before suppression claims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Affordability in rural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89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CSR-funded kits at PHCs &amp; rehab centres; B2B service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Health-data 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processing; consent-based sharing as per DPDP Act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TEAM COMPOSITION &amp; ROLES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575304" cy="2057400"/>
          </a:xfrm>
          <a:prstGeom prst="roundRect">
            <a:avLst>
              <a:gd name="adj" fmla="val 533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868680" cy="868680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19072" y="1600200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</a:rPr>
              <a:t>Yuvabharathi 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19842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5A12"/>
                </a:solidFill>
              </a:rPr>
              <a:t>Team Lead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User research, clinical outreach, project management &amp; pitch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906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273"/>
                </a:solidFill>
              </a:rPr>
              <a:t>Sri Sairam Engineering College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1389888"/>
            <a:ext cx="3575304" cy="2057400"/>
          </a:xfrm>
          <a:prstGeom prst="roundRect">
            <a:avLst>
              <a:gd name="adj" fmla="val 533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1572768"/>
            <a:ext cx="868680" cy="86868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35424" y="1572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568696" y="1600200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</a:rPr>
              <a:t>S J Hema Priya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68696" y="19842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Hardware &amp; sensing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EMG / EMS circuits, sensor integration, sleeve &amp; pod design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30906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273"/>
                </a:solidFill>
              </a:rPr>
              <a:t>Sri Sairam Engineering College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6448" y="1389888"/>
            <a:ext cx="3575304" cy="2057400"/>
          </a:xfrm>
          <a:prstGeom prst="roundRect">
            <a:avLst>
              <a:gd name="adj" fmla="val 533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5048" y="1572768"/>
            <a:ext cx="868680" cy="868680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85048" y="1572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MK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1600200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97D"/>
                </a:solidFill>
              </a:rPr>
              <a:t>Manoj Kumar 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984248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AI/ML &amp; embedded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85048" y="2606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A"/>
                </a:solidFill>
              </a:rPr>
              <a:t>Signal pipeline, tremor classifier, ESP32 firmware, dashboard &amp; app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85048" y="30906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273"/>
                </a:solidFill>
              </a:rPr>
              <a:t>Sri Sairam Engineering College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5500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CHALLENGES WE FACED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507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841248" y="3950208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Raw EMG too noisy →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pivoted to depth-camera + gyro first, then a dry-electrode compression band</a:t>
            </a:r>
            <a:endParaRPr lang="en-US" sz="12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41248" y="457200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Vibration looks like tremor →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added EMG–gyro coherence so only muscle-driven tremor counts</a:t>
            </a:r>
            <a:endParaRPr lang="en-US" sz="12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248656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41248" y="519379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Electronics vs. washable wear →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</a:rPr>
              <a:t>detachable pod with pogo-pin contacts and magnetic alignment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231636" y="3675888"/>
            <a:ext cx="5500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722"/>
                </a:solidFill>
              </a:rPr>
              <a:t>OUR JOURNEY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737756" y="4224528"/>
            <a:ext cx="4487875" cy="0"/>
          </a:xfrm>
          <a:prstGeom prst="line">
            <a:avLst/>
          </a:prstGeom>
          <a:noFill/>
          <a:ln w="25400">
            <a:solidFill>
              <a:srgbClr val="D5DEE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582308" y="4069080"/>
            <a:ext cx="310896" cy="31089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231636" y="4480560"/>
            <a:ext cx="10122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Idea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231636" y="4800600"/>
            <a:ext cx="1012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Tremor ↔ inactivity loop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7704277" y="4069080"/>
            <a:ext cx="310896" cy="31089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353605" y="4480560"/>
            <a:ext cx="10122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Prototype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7353605" y="4800600"/>
            <a:ext cx="1012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Classifier + dashboard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826246" y="4069080"/>
            <a:ext cx="310896" cy="31089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475574" y="4480560"/>
            <a:ext cx="10122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Wearable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475574" y="4800600"/>
            <a:ext cx="1012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EMG band, live signals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9948215" y="4069080"/>
            <a:ext cx="310896" cy="310896"/>
          </a:xfrm>
          <a:prstGeom prst="ellipse">
            <a:avLst/>
          </a:prstGeom>
          <a:solidFill>
            <a:srgbClr val="0E7C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9597542" y="4480560"/>
            <a:ext cx="10122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Recognition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9597542" y="4800600"/>
            <a:ext cx="1012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Samsung SFT 2026 finalist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1070184" y="4069080"/>
            <a:ext cx="310896" cy="310896"/>
          </a:xfrm>
          <a:prstGeom prst="ellipse">
            <a:avLst/>
          </a:prstGeom>
          <a:solidFill>
            <a:srgbClr val="E877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10719511" y="4480560"/>
            <a:ext cx="10122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</a:rPr>
              <a:t>Next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10719511" y="4800600"/>
            <a:ext cx="10122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EMS pod + clinical pilot</a:t>
            </a:r>
            <a:endParaRPr lang="en-US" sz="1050" dirty="0"/>
          </a:p>
        </p:txBody>
      </p:sp>
      <p:sp>
        <p:nvSpPr>
          <p:cNvPr id="51" name="Text 46"/>
          <p:cNvSpPr txBox="1"/>
          <p:nvPr/>
        </p:nvSpPr>
        <p:spPr>
          <a:xfrm>
            <a:off x="6231636" y="5532120"/>
            <a:ext cx="55001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7B"/>
                </a:solidFill>
              </a:rPr>
              <a:t>Building an affordable, made-in-India way for people with tremor to stay independent and active.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NameOval"/>
          <p:cNvSpPr/>
          <p:nvPr/>
        </p:nvSpPr>
        <p:spPr>
          <a:xfrm>
            <a:off x="320040" y="182880"/>
            <a:ext cx="1325880" cy="713232"/>
          </a:xfrm>
          <a:prstGeom prst="ellipse">
            <a:avLst/>
          </a:prstGeom>
          <a:solidFill>
            <a:srgbClr val="FAD3B4"/>
          </a:solidFill>
          <a:ln w="12700">
            <a:solidFill>
              <a:srgbClr val="E89A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Nilai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011680" y="2560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3444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Louis ED, McCreary M. How common is essential tremor? Update on the worldwide prevalence of essential tremor. Tremor Other Hyperkinet Mov. 2021;11:28.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https://pmc.ncbi.nlm.nih.gov/articles/PMC8269764/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42032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49631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Louis ED, Collins K, Rohl B, et al. Self-reported physical activity in essential tremor: relationship with tremor, balance and cognitive function. J Neurol Sci. 2016.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https://pubmed.ncbi.nlm.nih.gov/27288815/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803904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758184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Farashi S, Kiani L, Bashirian S. Effect of exercise on Parkinson's disease tremor: a meta-analysis study. Tremor Other Hyperkinet Mov. 2021;11:15.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https://pubmed.ncbi.nlm.nih.gov/33981478/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928616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065776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5020056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Kadkhodaie M, Sharifnezhad A, Ebadi S, et al. Effect of eccentric-based rehabilitation on hand tremor intensity in Parkinson disease. Neurol Sci. 2020;41(3):637–643.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https://pubmed.ncbi.nlm.nih.gov/31735996/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7356" y="1143000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4516" y="1280160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4516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35724" y="123444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Kavanagh JJ, Wedderburn-Bisshop J, Keogh JW. Resistance training reduces force tremor and improves manual dexterity in older individuals with essential tremor. J Mot Behav. 2016;48(1):20–30.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https://pubmed.ncbi.nlm.nih.gov/25923582/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77356" y="2404872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4516" y="2542032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451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35724" y="249631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Riviere CN, Rader RS, Thakor NV. Adaptive cancelling of physiological tremor for improved precision in microsurgery (WFLC). IEEE Trans Biomed Eng. 1998;45(7):839–846.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https://doi.org/10.1109/10.686791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7356" y="3666744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4516" y="3803904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4516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35724" y="3758184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MY Bharat – Hack for Social Cause: themes &amp; guidelines.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https://mybharat.gov.in/pages/hack_social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77356" y="4928616"/>
            <a:ext cx="5454396" cy="1115568"/>
          </a:xfrm>
          <a:prstGeom prst="roundRect">
            <a:avLst>
              <a:gd name="adj" fmla="val 983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4516" y="5065776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14516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35724" y="5020056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</a:rPr>
              <a:t>Espressif ESP32-C6 product page; Upside Down Labs bio-potential (EMG) hardware.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E7C7B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https://www.espressif.com/en/products/socs/esp32-c6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SC Nilai">
  <a:themeElements>
    <a:clrScheme name="HSC Nilai">
      <a:dk1>
        <a:srgbClr val="1E2A3A"/>
      </a:dk1>
      <a:lt1>
        <a:srgbClr val="FFFFFF"/>
      </a:lt1>
      <a:dk2>
        <a:srgbClr val="1F497D"/>
      </a:dk2>
      <a:lt2>
        <a:srgbClr val="EEF4FA"/>
      </a:lt2>
      <a:accent1>
        <a:srgbClr val="0E7C7B"/>
      </a:accent1>
      <a:accent2>
        <a:srgbClr val="E87722"/>
      </a:accent2>
      <a:accent3>
        <a:srgbClr val="1F497D"/>
      </a:accent3>
      <a:accent4>
        <a:srgbClr val="7A3E9D"/>
      </a:accent4>
      <a:accent5>
        <a:srgbClr val="2E8B57"/>
      </a:accent5>
      <a:accent6>
        <a:srgbClr val="C0392B"/>
      </a:accent6>
      <a:hlink>
        <a:srgbClr val="0E7C7B"/>
      </a:hlink>
      <a:folHlink>
        <a:srgbClr val="7A3E9D"/>
      </a:folHlink>
    </a:clrScheme>
    <a:fontScheme name="HSC Nila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NILAI – Hack for Social Cause</dc:title>
  <dc:subject>PptxGenJS Presentation</dc:subject>
  <dc:creator>Team Nilai</dc:creator>
  <cp:lastModifiedBy>Team Nilai</cp:lastModifiedBy>
  <cp:revision>1</cp:revision>
  <dcterms:created xsi:type="dcterms:W3CDTF">2026-10-15T15:31:55Z</dcterms:created>
  <dcterms:modified xsi:type="dcterms:W3CDTF">2026-10-15T15:31:55Z</dcterms:modified>
</cp:coreProperties>
</file>